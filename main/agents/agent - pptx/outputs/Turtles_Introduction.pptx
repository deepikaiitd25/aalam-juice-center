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will cover the fascinating world of turtles, from their ancient origins to the challenges they face today, and what we can do to protect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Turtles are one of the oldest reptile groups, predating snakes and crocodiles. Their most distinctive feature, the shell, is an integral part of their skeletal structure, providing unique protection. They inhabit a wide range of environments, from oceans to deserts.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Turtles exhibit a wide range of dietary preferences, from strict herbivores to opportunistic carnivores, depending on their species and the food available in their habitat. They are also known for their remarkable longevity, with many species living for several decades, and some tortoises exceeding 100 years.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 populations worldwide face numerous threats, primarily driven by human activities. Habitat destruction, plastic pollution, and the illegal pet trade are significant concerns. Climate change affects nesting beaches and sex ratios, while bycatch in commercial fishing nets leads to many accidental deaths.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88952"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908792" cy="2011680"/>
          </a:xfrm>
          <a:prstGeom prst="rect">
            <a:avLst/>
          </a:prstGeom>
          <a:noFill/>
        </p:spPr>
        <p:txBody>
          <a:bodyPr wrap="square">
            <a:spAutoFit/>
          </a:bodyPr>
          <a:lstStyle/>
          <a:p>
            <a:pPr algn="l"/>
            <a:r>
              <a:rPr sz="4000" b="1">
                <a:solidFill>
                  <a:srgbClr val="FFFFFF"/>
                </a:solidFill>
              </a:rPr>
              <a:t>The Wonderful World of Turtles</a:t>
            </a:r>
          </a:p>
        </p:txBody>
      </p:sp>
      <p:sp>
        <p:nvSpPr>
          <p:cNvPr id="5" name="TextBox 4"/>
          <p:cNvSpPr txBox="1"/>
          <p:nvPr/>
        </p:nvSpPr>
        <p:spPr>
          <a:xfrm>
            <a:off x="731520" y="3474720"/>
            <a:ext cx="10908792" cy="914400"/>
          </a:xfrm>
          <a:prstGeom prst="rect">
            <a:avLst/>
          </a:prstGeom>
          <a:noFill/>
        </p:spPr>
        <p:txBody>
          <a:bodyPr wrap="square">
            <a:spAutoFit/>
          </a:bodyPr>
          <a:lstStyle/>
          <a:p>
            <a:pPr algn="l"/>
            <a:r>
              <a:rPr sz="2200" b="0">
                <a:solidFill>
                  <a:srgbClr val="DEEBF7"/>
                </a:solidFill>
              </a:rPr>
              <a:t>An Introduction to Chelonians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4552" cy="1188720"/>
          </a:xfrm>
          <a:prstGeom prst="rect">
            <a:avLst/>
          </a:prstGeom>
          <a:noFill/>
        </p:spPr>
        <p:txBody>
          <a:bodyPr wrap="square">
            <a:spAutoFit/>
          </a:bodyPr>
          <a:lstStyle/>
          <a:p>
            <a:pPr algn="l"/>
            <a:r>
              <a:rPr sz="2800" b="1">
                <a:solidFill>
                  <a:srgbClr val="FFFFFF"/>
                </a:solidFill>
              </a:rPr>
              <a:t>Presentation Agenda</a:t>
            </a:r>
          </a:p>
        </p:txBody>
      </p:sp>
      <p:sp>
        <p:nvSpPr>
          <p:cNvPr id="4" name="TextBox 3"/>
          <p:cNvSpPr txBox="1"/>
          <p:nvPr/>
        </p:nvSpPr>
        <p:spPr>
          <a:xfrm>
            <a:off x="548640" y="1463040"/>
            <a:ext cx="11091672" cy="4937760"/>
          </a:xfrm>
          <a:prstGeom prst="rect">
            <a:avLst/>
          </a:prstGeom>
          <a:noFill/>
        </p:spPr>
        <p:txBody>
          <a:bodyPr wrap="square">
            <a:spAutoFit/>
          </a:bodyPr>
          <a:lstStyle/>
          <a:p>
            <a:pPr>
              <a:spcBef>
                <a:spcPts val="700"/>
              </a:spcBef>
            </a:pPr>
            <a:r>
              <a:rPr sz="1800">
                <a:solidFill>
                  <a:srgbClr val="262626"/>
                </a:solidFill>
              </a:rPr>
              <a:t>•  Introduction to Turtles</a:t>
            </a:r>
          </a:p>
          <a:p>
            <a:pPr>
              <a:spcBef>
                <a:spcPts val="700"/>
              </a:spcBef>
            </a:pPr>
            <a:r>
              <a:rPr sz="1800">
                <a:solidFill>
                  <a:srgbClr val="262626"/>
                </a:solidFill>
              </a:rPr>
              <a:t>•  Diverse Species and Habitats</a:t>
            </a:r>
          </a:p>
          <a:p>
            <a:pPr>
              <a:spcBef>
                <a:spcPts val="700"/>
              </a:spcBef>
            </a:pPr>
            <a:r>
              <a:rPr sz="1800">
                <a:solidFill>
                  <a:srgbClr val="262626"/>
                </a:solidFill>
              </a:rPr>
              <a:t>•  Diet and Lifespan</a:t>
            </a:r>
          </a:p>
          <a:p>
            <a:pPr>
              <a:spcBef>
                <a:spcPts val="700"/>
              </a:spcBef>
            </a:pPr>
            <a:r>
              <a:rPr sz="1800">
                <a:solidFill>
                  <a:srgbClr val="262626"/>
                </a:solidFill>
              </a:rPr>
              <a:t>•  Conservation Challenges</a:t>
            </a:r>
          </a:p>
          <a:p>
            <a:pPr>
              <a:spcBef>
                <a:spcPts val="700"/>
              </a:spcBef>
            </a:pPr>
            <a:r>
              <a:rPr sz="1800">
                <a:solidFill>
                  <a:srgbClr val="262626"/>
                </a:solidFill>
              </a:rPr>
              <a:t>•  How You Can Help</a:t>
            </a:r>
          </a:p>
        </p:txBody>
      </p:sp>
      <p:sp>
        <p:nvSpPr>
          <p:cNvPr id="5" name="Rectangle 4"/>
          <p:cNvSpPr/>
          <p:nvPr/>
        </p:nvSpPr>
        <p:spPr>
          <a:xfrm>
            <a:off x="0" y="6784848"/>
            <a:ext cx="12188952" cy="7315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4552" cy="1188720"/>
          </a:xfrm>
          <a:prstGeom prst="rect">
            <a:avLst/>
          </a:prstGeom>
          <a:noFill/>
        </p:spPr>
        <p:txBody>
          <a:bodyPr wrap="square">
            <a:spAutoFit/>
          </a:bodyPr>
          <a:lstStyle/>
          <a:p>
            <a:pPr algn="l"/>
            <a:r>
              <a:rPr sz="2800" b="1">
                <a:solidFill>
                  <a:srgbClr val="FFFFFF"/>
                </a:solidFill>
              </a:rPr>
              <a:t>Understanding Turtles</a:t>
            </a:r>
          </a:p>
        </p:txBody>
      </p:sp>
      <p:sp>
        <p:nvSpPr>
          <p:cNvPr id="4" name="TextBox 3"/>
          <p:cNvSpPr txBox="1"/>
          <p:nvPr/>
        </p:nvSpPr>
        <p:spPr>
          <a:xfrm>
            <a:off x="548640" y="1463040"/>
            <a:ext cx="11091672" cy="4937760"/>
          </a:xfrm>
          <a:prstGeom prst="rect">
            <a:avLst/>
          </a:prstGeom>
          <a:noFill/>
        </p:spPr>
        <p:txBody>
          <a:bodyPr wrap="square">
            <a:spAutoFit/>
          </a:bodyPr>
          <a:lstStyle/>
          <a:p>
            <a:pPr>
              <a:spcBef>
                <a:spcPts val="700"/>
              </a:spcBef>
            </a:pPr>
            <a:r>
              <a:rPr sz="1800">
                <a:solidFill>
                  <a:srgbClr val="262626"/>
                </a:solidFill>
              </a:rPr>
              <a:t>•  Ancient reptiles, over 200 million years old.</a:t>
            </a:r>
          </a:p>
          <a:p>
            <a:pPr>
              <a:spcBef>
                <a:spcPts val="700"/>
              </a:spcBef>
            </a:pPr>
            <a:r>
              <a:rPr sz="1800">
                <a:solidFill>
                  <a:srgbClr val="262626"/>
                </a:solidFill>
              </a:rPr>
              <a:t>•  Characterized by a protective shell.</a:t>
            </a:r>
          </a:p>
          <a:p>
            <a:pPr>
              <a:spcBef>
                <a:spcPts val="700"/>
              </a:spcBef>
            </a:pPr>
            <a:r>
              <a:rPr sz="1800">
                <a:solidFill>
                  <a:srgbClr val="262626"/>
                </a:solidFill>
              </a:rPr>
              <a:t>•  Shell is part of their skeleton.</a:t>
            </a:r>
          </a:p>
          <a:p>
            <a:pPr>
              <a:spcBef>
                <a:spcPts val="700"/>
              </a:spcBef>
            </a:pPr>
            <a:r>
              <a:rPr sz="1800">
                <a:solidFill>
                  <a:srgbClr val="262626"/>
                </a:solidFill>
              </a:rPr>
              <a:t>•  Found in diverse environments globally.</a:t>
            </a:r>
          </a:p>
        </p:txBody>
      </p:sp>
      <p:sp>
        <p:nvSpPr>
          <p:cNvPr id="5" name="Rectangle 4"/>
          <p:cNvSpPr/>
          <p:nvPr/>
        </p:nvSpPr>
        <p:spPr>
          <a:xfrm>
            <a:off x="0" y="6784848"/>
            <a:ext cx="12188952" cy="7315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4552" cy="1188720"/>
          </a:xfrm>
          <a:prstGeom prst="rect">
            <a:avLst/>
          </a:prstGeom>
          <a:noFill/>
        </p:spPr>
        <p:txBody>
          <a:bodyPr wrap="square">
            <a:spAutoFit/>
          </a:bodyPr>
          <a:lstStyle/>
          <a:p>
            <a:pPr algn="l"/>
            <a:r>
              <a:rPr sz="2800" b="1">
                <a:solidFill>
                  <a:srgbClr val="FFFFFF"/>
                </a:solidFill>
              </a:rPr>
              <a:t>Marine vs. Freshwater &amp; Land Turtles</a:t>
            </a:r>
          </a:p>
        </p:txBody>
      </p:sp>
      <p:sp>
        <p:nvSpPr>
          <p:cNvPr id="4" name="Rectangle 3"/>
          <p:cNvSpPr/>
          <p:nvPr/>
        </p:nvSpPr>
        <p:spPr>
          <a:xfrm>
            <a:off x="6076188" y="1417320"/>
            <a:ext cx="36576" cy="49834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7320"/>
            <a:ext cx="5362956" cy="457200"/>
          </a:xfrm>
          <a:prstGeom prst="rect">
            <a:avLst/>
          </a:prstGeom>
          <a:noFill/>
        </p:spPr>
        <p:txBody>
          <a:bodyPr wrap="square">
            <a:spAutoFit/>
          </a:bodyPr>
          <a:lstStyle/>
          <a:p>
            <a:pPr algn="l"/>
            <a:r>
              <a:rPr sz="1900" b="1">
                <a:solidFill>
                  <a:srgbClr val="1F497D"/>
                </a:solidFill>
              </a:rPr>
              <a:t>Marine Turtles</a:t>
            </a:r>
          </a:p>
        </p:txBody>
      </p:sp>
      <p:sp>
        <p:nvSpPr>
          <p:cNvPr id="6" name="TextBox 5"/>
          <p:cNvSpPr txBox="1"/>
          <p:nvPr/>
        </p:nvSpPr>
        <p:spPr>
          <a:xfrm>
            <a:off x="457200" y="1965960"/>
            <a:ext cx="5362956" cy="4434840"/>
          </a:xfrm>
          <a:prstGeom prst="rect">
            <a:avLst/>
          </a:prstGeom>
          <a:noFill/>
        </p:spPr>
        <p:txBody>
          <a:bodyPr wrap="square">
            <a:spAutoFit/>
          </a:bodyPr>
          <a:lstStyle/>
          <a:p>
            <a:r>
              <a:rPr sz="1700">
                <a:solidFill>
                  <a:srgbClr val="262626"/>
                </a:solidFill>
              </a:rPr>
              <a:t>•  Live in oceans worldwide.</a:t>
            </a:r>
          </a:p>
          <a:p>
            <a:r>
              <a:rPr sz="1700">
                <a:solidFill>
                  <a:srgbClr val="262626"/>
                </a:solidFill>
              </a:rPr>
              <a:t>•  Flippers for efficient swimming.</a:t>
            </a:r>
          </a:p>
          <a:p>
            <a:r>
              <a:rPr sz="1700">
                <a:solidFill>
                  <a:srgbClr val="262626"/>
                </a:solidFill>
              </a:rPr>
              <a:t>•  Salt glands to excrete excess salt.</a:t>
            </a:r>
          </a:p>
          <a:p>
            <a:r>
              <a:rPr sz="1700">
                <a:solidFill>
                  <a:srgbClr val="262626"/>
                </a:solidFill>
              </a:rPr>
              <a:t>•  Examples: Green, Loggerhead, Leatherback.</a:t>
            </a:r>
          </a:p>
        </p:txBody>
      </p:sp>
      <p:sp>
        <p:nvSpPr>
          <p:cNvPr id="7" name="TextBox 6"/>
          <p:cNvSpPr txBox="1"/>
          <p:nvPr/>
        </p:nvSpPr>
        <p:spPr>
          <a:xfrm>
            <a:off x="6368796" y="1417320"/>
            <a:ext cx="5362956" cy="457200"/>
          </a:xfrm>
          <a:prstGeom prst="rect">
            <a:avLst/>
          </a:prstGeom>
          <a:noFill/>
        </p:spPr>
        <p:txBody>
          <a:bodyPr wrap="square">
            <a:spAutoFit/>
          </a:bodyPr>
          <a:lstStyle/>
          <a:p>
            <a:pPr algn="l"/>
            <a:r>
              <a:rPr sz="1900" b="1">
                <a:solidFill>
                  <a:srgbClr val="1F497D"/>
                </a:solidFill>
              </a:rPr>
              <a:t>Freshwater &amp; Land Turtles</a:t>
            </a:r>
          </a:p>
        </p:txBody>
      </p:sp>
      <p:sp>
        <p:nvSpPr>
          <p:cNvPr id="8" name="TextBox 7"/>
          <p:cNvSpPr txBox="1"/>
          <p:nvPr/>
        </p:nvSpPr>
        <p:spPr>
          <a:xfrm>
            <a:off x="6368796" y="1965960"/>
            <a:ext cx="5362956" cy="4434840"/>
          </a:xfrm>
          <a:prstGeom prst="rect">
            <a:avLst/>
          </a:prstGeom>
          <a:noFill/>
        </p:spPr>
        <p:txBody>
          <a:bodyPr wrap="square">
            <a:spAutoFit/>
          </a:bodyPr>
          <a:lstStyle/>
          <a:p>
            <a:r>
              <a:rPr sz="1700">
                <a:solidFill>
                  <a:srgbClr val="262626"/>
                </a:solidFill>
              </a:rPr>
              <a:t>•  Inhabit rivers, lakes, forests.</a:t>
            </a:r>
          </a:p>
          <a:p>
            <a:r>
              <a:rPr sz="1700">
                <a:solidFill>
                  <a:srgbClr val="262626"/>
                </a:solidFill>
              </a:rPr>
              <a:t>•  Webbed feet or sturdy legs.</a:t>
            </a:r>
          </a:p>
          <a:p>
            <a:r>
              <a:rPr sz="1700">
                <a:solidFill>
                  <a:srgbClr val="262626"/>
                </a:solidFill>
              </a:rPr>
              <a:t>•  Varying diets and sizes.</a:t>
            </a:r>
          </a:p>
          <a:p>
            <a:r>
              <a:rPr sz="1700">
                <a:solidFill>
                  <a:srgbClr val="262626"/>
                </a:solidFill>
              </a:rPr>
              <a:t>•  Examples: Snapping, Box, Tortoises.</a:t>
            </a:r>
          </a:p>
        </p:txBody>
      </p:sp>
      <p:sp>
        <p:nvSpPr>
          <p:cNvPr id="9" name="Rectangle 8"/>
          <p:cNvSpPr/>
          <p:nvPr/>
        </p:nvSpPr>
        <p:spPr>
          <a:xfrm>
            <a:off x="0" y="6784848"/>
            <a:ext cx="12188952" cy="7315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4552" cy="1188720"/>
          </a:xfrm>
          <a:prstGeom prst="rect">
            <a:avLst/>
          </a:prstGeom>
          <a:noFill/>
        </p:spPr>
        <p:txBody>
          <a:bodyPr wrap="square">
            <a:spAutoFit/>
          </a:bodyPr>
          <a:lstStyle/>
          <a:p>
            <a:pPr algn="l"/>
            <a:r>
              <a:rPr sz="2800" b="1">
                <a:solidFill>
                  <a:srgbClr val="FFFFFF"/>
                </a:solidFill>
              </a:rPr>
              <a:t>Diet and Lifespan</a:t>
            </a:r>
          </a:p>
        </p:txBody>
      </p:sp>
      <p:sp>
        <p:nvSpPr>
          <p:cNvPr id="4" name="TextBox 3"/>
          <p:cNvSpPr txBox="1"/>
          <p:nvPr/>
        </p:nvSpPr>
        <p:spPr>
          <a:xfrm>
            <a:off x="548640" y="1463040"/>
            <a:ext cx="11091672" cy="4937760"/>
          </a:xfrm>
          <a:prstGeom prst="rect">
            <a:avLst/>
          </a:prstGeom>
          <a:noFill/>
        </p:spPr>
        <p:txBody>
          <a:bodyPr wrap="square">
            <a:spAutoFit/>
          </a:bodyPr>
          <a:lstStyle/>
          <a:p>
            <a:pPr>
              <a:spcBef>
                <a:spcPts val="700"/>
              </a:spcBef>
            </a:pPr>
            <a:r>
              <a:rPr sz="1800">
                <a:solidFill>
                  <a:srgbClr val="262626"/>
                </a:solidFill>
              </a:rPr>
              <a:t>•  Omnivores, herbivores, or carnivores.</a:t>
            </a:r>
          </a:p>
          <a:p>
            <a:pPr>
              <a:spcBef>
                <a:spcPts val="700"/>
              </a:spcBef>
            </a:pPr>
            <a:r>
              <a:rPr sz="1800">
                <a:solidFill>
                  <a:srgbClr val="262626"/>
                </a:solidFill>
              </a:rPr>
              <a:t>•  Diet varies by species and habitat.</a:t>
            </a:r>
          </a:p>
          <a:p>
            <a:pPr>
              <a:spcBef>
                <a:spcPts val="700"/>
              </a:spcBef>
            </a:pPr>
            <a:r>
              <a:rPr sz="1800">
                <a:solidFill>
                  <a:srgbClr val="262626"/>
                </a:solidFill>
              </a:rPr>
              <a:t>•  Marine turtles eat jellyfish, algae, crustaceans.</a:t>
            </a:r>
          </a:p>
          <a:p>
            <a:pPr>
              <a:spcBef>
                <a:spcPts val="700"/>
              </a:spcBef>
            </a:pPr>
            <a:r>
              <a:rPr sz="1800">
                <a:solidFill>
                  <a:srgbClr val="262626"/>
                </a:solidFill>
              </a:rPr>
              <a:t>•  Land turtles consume plants, fruits, insects.</a:t>
            </a:r>
          </a:p>
          <a:p>
            <a:pPr>
              <a:spcBef>
                <a:spcPts val="700"/>
              </a:spcBef>
            </a:pPr>
            <a:r>
              <a:rPr sz="1800">
                <a:solidFill>
                  <a:srgbClr val="262626"/>
                </a:solidFill>
              </a:rPr>
              <a:t>•  Many species live for decades, some over a century.</a:t>
            </a:r>
          </a:p>
        </p:txBody>
      </p:sp>
      <p:sp>
        <p:nvSpPr>
          <p:cNvPr id="5" name="Rectangle 4"/>
          <p:cNvSpPr/>
          <p:nvPr/>
        </p:nvSpPr>
        <p:spPr>
          <a:xfrm>
            <a:off x="0" y="6784848"/>
            <a:ext cx="12188952" cy="7315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4552" cy="1188720"/>
          </a:xfrm>
          <a:prstGeom prst="rect">
            <a:avLst/>
          </a:prstGeom>
          <a:noFill/>
        </p:spPr>
        <p:txBody>
          <a:bodyPr wrap="square">
            <a:spAutoFit/>
          </a:bodyPr>
          <a:lstStyle/>
          <a:p>
            <a:pPr algn="l"/>
            <a:r>
              <a:rPr sz="2800" b="1">
                <a:solidFill>
                  <a:srgbClr val="FFFFFF"/>
                </a:solidFill>
              </a:rPr>
              <a:t>Threats to Turtle Populations</a:t>
            </a:r>
          </a:p>
        </p:txBody>
      </p:sp>
      <p:sp>
        <p:nvSpPr>
          <p:cNvPr id="4" name="TextBox 3"/>
          <p:cNvSpPr txBox="1"/>
          <p:nvPr/>
        </p:nvSpPr>
        <p:spPr>
          <a:xfrm>
            <a:off x="548640" y="1463040"/>
            <a:ext cx="11091672" cy="4937760"/>
          </a:xfrm>
          <a:prstGeom prst="rect">
            <a:avLst/>
          </a:prstGeom>
          <a:noFill/>
        </p:spPr>
        <p:txBody>
          <a:bodyPr wrap="square">
            <a:spAutoFit/>
          </a:bodyPr>
          <a:lstStyle/>
          <a:p>
            <a:pPr>
              <a:spcBef>
                <a:spcPts val="700"/>
              </a:spcBef>
            </a:pPr>
            <a:r>
              <a:rPr sz="1800">
                <a:solidFill>
                  <a:srgbClr val="262626"/>
                </a:solidFill>
              </a:rPr>
              <a:t>•  Habitat loss and degradation.</a:t>
            </a:r>
          </a:p>
          <a:p>
            <a:pPr>
              <a:spcBef>
                <a:spcPts val="700"/>
              </a:spcBef>
            </a:pPr>
            <a:r>
              <a:rPr sz="1800">
                <a:solidFill>
                  <a:srgbClr val="262626"/>
                </a:solidFill>
              </a:rPr>
              <a:t>•  Pollution, especially plastic.</a:t>
            </a:r>
          </a:p>
          <a:p>
            <a:pPr>
              <a:spcBef>
                <a:spcPts val="700"/>
              </a:spcBef>
            </a:pPr>
            <a:r>
              <a:rPr sz="1800">
                <a:solidFill>
                  <a:srgbClr val="262626"/>
                </a:solidFill>
              </a:rPr>
              <a:t>•  Illegal wildlife trade.</a:t>
            </a:r>
          </a:p>
          <a:p>
            <a:pPr>
              <a:spcBef>
                <a:spcPts val="700"/>
              </a:spcBef>
            </a:pPr>
            <a:r>
              <a:rPr sz="1800">
                <a:solidFill>
                  <a:srgbClr val="262626"/>
                </a:solidFill>
              </a:rPr>
              <a:t>•  Climate change impacts nesting.</a:t>
            </a:r>
          </a:p>
          <a:p>
            <a:pPr>
              <a:spcBef>
                <a:spcPts val="700"/>
              </a:spcBef>
            </a:pPr>
            <a:r>
              <a:rPr sz="1800">
                <a:solidFill>
                  <a:srgbClr val="262626"/>
                </a:solidFill>
              </a:rPr>
              <a:t>•  Bycatch in fishing nets.</a:t>
            </a:r>
          </a:p>
        </p:txBody>
      </p:sp>
      <p:sp>
        <p:nvSpPr>
          <p:cNvPr id="5" name="Rectangle 4"/>
          <p:cNvSpPr/>
          <p:nvPr/>
        </p:nvSpPr>
        <p:spPr>
          <a:xfrm>
            <a:off x="0" y="6784848"/>
            <a:ext cx="12188952" cy="7315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360152" cy="2194560"/>
          </a:xfrm>
          <a:prstGeom prst="rect">
            <a:avLst/>
          </a:prstGeom>
          <a:noFill/>
        </p:spPr>
        <p:txBody>
          <a:bodyPr wrap="square">
            <a:spAutoFit/>
          </a:bodyPr>
          <a:lstStyle/>
          <a:p>
            <a:pPr algn="ctr"/>
            <a:r>
              <a:rPr sz="4800" b="1">
                <a:solidFill>
                  <a:srgbClr val="FFFFFF"/>
                </a:solidFill>
              </a:rPr>
              <a:t>Protecting Our Ancient Friends</a:t>
            </a:r>
          </a:p>
        </p:txBody>
      </p:sp>
      <p:sp>
        <p:nvSpPr>
          <p:cNvPr id="4" name="TextBox 3"/>
          <p:cNvSpPr txBox="1"/>
          <p:nvPr/>
        </p:nvSpPr>
        <p:spPr>
          <a:xfrm>
            <a:off x="1097280" y="4023360"/>
            <a:ext cx="10360152" cy="914400"/>
          </a:xfrm>
          <a:prstGeom prst="rect">
            <a:avLst/>
          </a:prstGeom>
          <a:noFill/>
        </p:spPr>
        <p:txBody>
          <a:bodyPr wrap="square">
            <a:spAutoFit/>
          </a:bodyPr>
          <a:lstStyle/>
          <a:p>
            <a:pPr algn="ctr"/>
            <a:r>
              <a:rPr sz="2200" b="0">
                <a:solidFill>
                  <a:srgbClr val="DEEBF7"/>
                </a:solidFill>
              </a:rPr>
              <a:t>Support Turtle Conservation Efforts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